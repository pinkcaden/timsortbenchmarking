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39250" cy="119824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F"/>
    <a:srgbClr val="49A942"/>
    <a:srgbClr val="EAEAEA"/>
    <a:srgbClr val="3399FF"/>
    <a:srgbClr val="A9A9BB"/>
    <a:srgbClr val="ABABB9"/>
    <a:srgbClr val="9E9EC6"/>
    <a:srgbClr val="9696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B2220-C5D0-4479-869E-664828BF7DF8}" v="484" dt="2022-04-26T15:39:24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80" autoAdjust="0"/>
  </p:normalViewPr>
  <p:slideViewPr>
    <p:cSldViewPr>
      <p:cViewPr>
        <p:scale>
          <a:sx n="21" d="100"/>
          <a:sy n="21" d="100"/>
        </p:scale>
        <p:origin x="974" y="-893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7" d="100"/>
          <a:sy n="37" d="100"/>
        </p:scale>
        <p:origin x="-1488" y="-84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400"/>
            </a:pPr>
            <a:r>
              <a:rPr lang="en-US" sz="1400" dirty="0"/>
              <a:t>Graph A</a:t>
            </a:r>
          </a:p>
        </c:rich>
      </c:tx>
      <c:layout>
        <c:manualLayout>
          <c:xMode val="edge"/>
          <c:yMode val="edge"/>
          <c:x val="0.37169811383554563"/>
          <c:y val="7.7348087328731469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2722864730631858"/>
          <c:y val="0.17272947011611753"/>
          <c:w val="0.67785192475940625"/>
          <c:h val="0.73524229326420765"/>
        </c:manualLayout>
      </c:layout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9175760"/>
        <c:axId val="319176152"/>
      </c:barChart>
      <c:catAx>
        <c:axId val="319175760"/>
        <c:scaling>
          <c:orientation val="minMax"/>
        </c:scaling>
        <c:delete val="0"/>
        <c:axPos val="b"/>
        <c:majorTickMark val="out"/>
        <c:minorTickMark val="none"/>
        <c:tickLblPos val="nextTo"/>
        <c:crossAx val="319176152"/>
        <c:crosses val="autoZero"/>
        <c:auto val="1"/>
        <c:lblAlgn val="ctr"/>
        <c:lblOffset val="100"/>
        <c:noMultiLvlLbl val="0"/>
      </c:catAx>
      <c:valAx>
        <c:axId val="3191761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19175760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overlay val="0"/>
    </c:legend>
    <c:plotVisOnly val="1"/>
    <c:dispBlanksAs val="gap"/>
    <c:showDLblsOverMax val="0"/>
  </c:chart>
  <c:externalData r:id="rId2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2F7628-5DEC-4274-B042-DEAB73BCB9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t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5780DA5-E60C-48AB-BABA-13FBAC13AA3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t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B979CAC-25B4-4440-A834-F0C95D592A4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b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E49B88FA-BE5D-451B-976C-B8F7DABEBB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84" tIns="57492" rIns="114984" bIns="57492" numCol="1" anchor="b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a typeface="SimSun" panose="02010600030101010101" pitchFamily="2" charset="-122"/>
              </a:defRPr>
            </a:lvl1pPr>
          </a:lstStyle>
          <a:p>
            <a:fld id="{1B5F4263-7671-4157-BC8B-82620DAFBA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C4C7378-A07E-4D19-8F09-CE2ABA85E0A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5BDA01E-FD78-4DB8-B26F-765487064B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E16CE77-C1DC-47CF-9E80-4E376C3E813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98A3185-B7B7-4DE7-9439-78C83058C2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82A6C2F-0DF7-4302-BFE3-59642A13099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b" anchorCtr="0" compatLnSpc="1">
            <a:prstTxWarp prst="textNoShape">
              <a:avLst/>
            </a:prstTxWarp>
          </a:bodyPr>
          <a:lstStyle>
            <a:lvl1pPr defTabSz="1149350">
              <a:defRPr sz="1500">
                <a:effectLst/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1A61901-FC6E-4804-9197-313B05DBF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14976" tIns="57487" rIns="114976" bIns="57487" numCol="1" anchor="b" anchorCtr="0" compatLnSpc="1">
            <a:prstTxWarp prst="textNoShape">
              <a:avLst/>
            </a:prstTxWarp>
          </a:bodyPr>
          <a:lstStyle>
            <a:lvl1pPr algn="r" defTabSz="1149350">
              <a:defRPr sz="1500">
                <a:ea typeface="SimSun" panose="02010600030101010101" pitchFamily="2" charset="-122"/>
              </a:defRPr>
            </a:lvl1pPr>
          </a:lstStyle>
          <a:p>
            <a:fld id="{B3F8F178-920E-4378-96A1-F9CFE17A07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10E21FE3-172D-4BC8-A955-012E1FAAB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28C9F66-2A22-4BDA-8878-C0420EC06063}" type="slidenum">
              <a:rPr lang="zh-CN" altLang="en-US" sz="1500">
                <a:ea typeface="SimSun" panose="02010600030101010101" pitchFamily="2" charset="-122"/>
              </a:rPr>
              <a:pPr/>
              <a:t>1</a:t>
            </a:fld>
            <a:endParaRPr lang="en-US" altLang="zh-CN" sz="1500">
              <a:ea typeface="SimSun" panose="02010600030101010101" pitchFamily="2" charset="-122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4A8F11A3-8FD0-4D32-83E2-A36CB084A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1D2D999-FD14-4211-8A03-3A5E2EC9F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6" cy="7054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857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4" cy="21724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815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6" cy="653732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6" cy="72009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3821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07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6" y="7369176"/>
            <a:ext cx="19401367" cy="3070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6" y="10439401"/>
            <a:ext cx="19401367" cy="1896586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245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012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889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1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6" cy="2720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6" cy="19750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6" cy="3862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175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4" cy="5486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4" cy="217249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6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7" y="1317625"/>
            <a:ext cx="9874956" cy="280876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924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  <a:ea typeface="MS PGothic" pitchFamily="34" charset="-128"/>
          <a:cs typeface="ＭＳ Ｐゴシック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  <a:ea typeface="MS PGothic" pitchFamily="34" charset="-128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  <a:ea typeface="MS PGothic" pitchFamily="34" charset="-128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  <a:ea typeface="MS PGothic" pitchFamily="34" charset="-128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  <a:ea typeface="MS PGothic" pitchFamily="34" charset="-128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hart" Target="../charts/chart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41">
            <a:extLst>
              <a:ext uri="{FF2B5EF4-FFF2-40B4-BE49-F238E27FC236}">
                <a16:creationId xmlns:a16="http://schemas.microsoft.com/office/drawing/2014/main" id="{1924D29A-22BD-4713-861D-0B5CFD588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685800"/>
            <a:ext cx="41757600" cy="4191000"/>
          </a:xfrm>
          <a:prstGeom prst="rect">
            <a:avLst/>
          </a:prstGeom>
          <a:solidFill>
            <a:srgbClr val="00467F"/>
          </a:solidFill>
          <a:ln w="38100">
            <a:solidFill>
              <a:srgbClr val="00467F"/>
            </a:solidFill>
            <a:miter lim="800000"/>
            <a:headEnd/>
            <a:tailEnd/>
          </a:ln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4200" b="1" i="1" dirty="0">
              <a:solidFill>
                <a:schemeClr val="bg1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sp>
        <p:nvSpPr>
          <p:cNvPr id="1030" name="Text Box 246">
            <a:extLst>
              <a:ext uri="{FF2B5EF4-FFF2-40B4-BE49-F238E27FC236}">
                <a16:creationId xmlns:a16="http://schemas.microsoft.com/office/drawing/2014/main" id="{D868B84A-8655-434E-ADC5-2F49741DC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7536" y="24884956"/>
            <a:ext cx="12166864" cy="87658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457200" indent="-4572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defRPr/>
            </a:pPr>
            <a:r>
              <a:rPr lang="en-US" altLang="zh-CN" sz="3600" dirty="0">
                <a:latin typeface="Arial Rounded MT Bold" pitchFamily="34" charset="0"/>
                <a:ea typeface="SimSun" panose="02010600030101010101" pitchFamily="2" charset="-122"/>
              </a:rPr>
              <a:t>Polyglottal Implementation</a:t>
            </a:r>
          </a:p>
        </p:txBody>
      </p:sp>
      <p:sp>
        <p:nvSpPr>
          <p:cNvPr id="3080" name="Text Box 249">
            <a:extLst>
              <a:ext uri="{FF2B5EF4-FFF2-40B4-BE49-F238E27FC236}">
                <a16:creationId xmlns:a16="http://schemas.microsoft.com/office/drawing/2014/main" id="{BE208DDC-7685-4CF5-872F-32BA75BA8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571" y="23317200"/>
            <a:ext cx="1164722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Obtaining Data</a:t>
            </a:r>
          </a:p>
        </p:txBody>
      </p:sp>
      <p:sp>
        <p:nvSpPr>
          <p:cNvPr id="3082" name="Text Box 251">
            <a:extLst>
              <a:ext uri="{FF2B5EF4-FFF2-40B4-BE49-F238E27FC236}">
                <a16:creationId xmlns:a16="http://schemas.microsoft.com/office/drawing/2014/main" id="{DA357736-C7E5-4CD3-9F90-8699AF26B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7537" y="17303113"/>
            <a:ext cx="12166863" cy="1269234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3600" b="1" dirty="0">
              <a:latin typeface="Arial Rounded MT Bold" panose="020F0704030504030204" pitchFamily="34" charset="0"/>
              <a:ea typeface="SimSun" panose="02010600030101010101" pitchFamily="2" charset="-122"/>
              <a:cs typeface="Lucida Sans" panose="020B0602030504020204" pitchFamily="34" charset="0"/>
            </a:endParaRPr>
          </a:p>
        </p:txBody>
      </p:sp>
      <p:sp>
        <p:nvSpPr>
          <p:cNvPr id="3083" name="Text Box 252">
            <a:extLst>
              <a:ext uri="{FF2B5EF4-FFF2-40B4-BE49-F238E27FC236}">
                <a16:creationId xmlns:a16="http://schemas.microsoft.com/office/drawing/2014/main" id="{A0048218-560D-4F90-A6F9-D51CFFAF4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7536" y="23676223"/>
            <a:ext cx="12064469" cy="710964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Future Development</a:t>
            </a:r>
          </a:p>
        </p:txBody>
      </p:sp>
      <p:sp>
        <p:nvSpPr>
          <p:cNvPr id="3084" name="Text Box 253">
            <a:extLst>
              <a:ext uri="{FF2B5EF4-FFF2-40B4-BE49-F238E27FC236}">
                <a16:creationId xmlns:a16="http://schemas.microsoft.com/office/drawing/2014/main" id="{BCE9F985-441A-45CF-89F8-05BD30D36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0" y="5951378"/>
            <a:ext cx="1676399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Data Processing</a:t>
            </a:r>
          </a:p>
        </p:txBody>
      </p:sp>
      <p:sp>
        <p:nvSpPr>
          <p:cNvPr id="3085" name="Text Box 241">
            <a:extLst>
              <a:ext uri="{FF2B5EF4-FFF2-40B4-BE49-F238E27FC236}">
                <a16:creationId xmlns:a16="http://schemas.microsoft.com/office/drawing/2014/main" id="{1C65DBA1-C534-45D4-AD8B-AD5245430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914400"/>
            <a:ext cx="41605200" cy="3681413"/>
          </a:xfrm>
          <a:prstGeom prst="rect">
            <a:avLst/>
          </a:prstGeom>
          <a:solidFill>
            <a:schemeClr val="bg1"/>
          </a:solidFill>
          <a:ln w="38100">
            <a:solidFill>
              <a:srgbClr val="49A942"/>
            </a:solidFill>
            <a:miter lim="800000"/>
            <a:headEnd/>
            <a:tailEnd/>
          </a:ln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4200" b="1" i="1">
              <a:solidFill>
                <a:schemeClr val="bg1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</p:txBody>
      </p:sp>
      <p:sp>
        <p:nvSpPr>
          <p:cNvPr id="3086" name="Text Box 262">
            <a:extLst>
              <a:ext uri="{FF2B5EF4-FFF2-40B4-BE49-F238E27FC236}">
                <a16:creationId xmlns:a16="http://schemas.microsoft.com/office/drawing/2014/main" id="{1A7C2E48-07C9-4A79-8ED7-B4B33D607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685800"/>
            <a:ext cx="30175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170" tIns="30584" rIns="61170" bIns="30584" anchor="ctr"/>
          <a:lstStyle>
            <a:lvl1pPr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56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Benchmarking Algorithms With Paint</a:t>
            </a:r>
          </a:p>
          <a:p>
            <a:pPr algn="ctr"/>
            <a:r>
              <a:rPr lang="en-US" altLang="zh-CN" sz="46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Caden Pink</a:t>
            </a:r>
            <a:endParaRPr lang="en-US" altLang="zh-CN" sz="4600" b="1" dirty="0">
              <a:solidFill>
                <a:srgbClr val="00467F"/>
              </a:solidFill>
              <a:latin typeface="Arial Narrow" panose="020B060602020203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4200" b="1" dirty="0">
                <a:solidFill>
                  <a:srgbClr val="00467F"/>
                </a:solidFill>
                <a:latin typeface="Arial Narrow" panose="020B0606020202030204" pitchFamily="34" charset="0"/>
                <a:ea typeface="SimSun" panose="02010600030101010101" pitchFamily="2" charset="-122"/>
              </a:rPr>
              <a:t>Faculty Sponsor: Dr. Regina Rahn</a:t>
            </a:r>
            <a:endParaRPr lang="en-US" altLang="zh-CN" sz="4200" dirty="0">
              <a:solidFill>
                <a:srgbClr val="00467F"/>
              </a:solidFill>
              <a:latin typeface="Arial Rounded MT Bold" panose="020F0704030504030204" pitchFamily="34" charset="0"/>
              <a:ea typeface="SimSun" panose="02010600030101010101" pitchFamily="2" charset="-122"/>
            </a:endParaRPr>
          </a:p>
          <a:p>
            <a:pPr algn="ctr"/>
            <a:r>
              <a:rPr lang="en-US" altLang="zh-CN" sz="4200" b="1" dirty="0">
                <a:solidFill>
                  <a:srgbClr val="00467F"/>
                </a:solidFill>
                <a:latin typeface="Arial Rounded MT Bold" panose="020F0704030504030204" pitchFamily="34" charset="0"/>
                <a:ea typeface="SimSun" panose="02010600030101010101" pitchFamily="2" charset="-122"/>
              </a:rPr>
              <a:t>Aurora University</a:t>
            </a:r>
          </a:p>
        </p:txBody>
      </p:sp>
      <p:sp>
        <p:nvSpPr>
          <p:cNvPr id="1046" name="Text Box 244">
            <a:extLst>
              <a:ext uri="{FF2B5EF4-FFF2-40B4-BE49-F238E27FC236}">
                <a16:creationId xmlns:a16="http://schemas.microsoft.com/office/drawing/2014/main" id="{01D35549-D898-4FFA-A850-EA6979DD5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34307" y="7177728"/>
            <a:ext cx="12023725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9" name="Text Box 251">
            <a:extLst>
              <a:ext uri="{FF2B5EF4-FFF2-40B4-BE49-F238E27FC236}">
                <a16:creationId xmlns:a16="http://schemas.microsoft.com/office/drawing/2014/main" id="{16222A65-F35D-41E3-AE16-693C40011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92725" y="5943600"/>
            <a:ext cx="12018963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zh-CN" sz="3600" b="1" dirty="0">
              <a:latin typeface="Arial Rounded MT Bold" panose="020F0704030504030204" pitchFamily="34" charset="0"/>
              <a:ea typeface="SimSun" panose="02010600030101010101" pitchFamily="2" charset="-122"/>
              <a:cs typeface="Lucida Sans" panose="020B0602030504020204" pitchFamily="34" charset="0"/>
            </a:endParaRPr>
          </a:p>
        </p:txBody>
      </p: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993D0F15-C7ED-419C-B9F1-A2831383F0E5}"/>
              </a:ext>
            </a:extLst>
          </p:cNvPr>
          <p:cNvGraphicFramePr/>
          <p:nvPr/>
        </p:nvGraphicFramePr>
        <p:xfrm>
          <a:off x="14064342" y="15675429"/>
          <a:ext cx="3004457" cy="2627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AutoShape 32" descr="http://web.mail.comcast.net/service/home/~/?auth=co&amp;id=468461&amp;part=2">
            <a:extLst>
              <a:ext uri="{FF2B5EF4-FFF2-40B4-BE49-F238E27FC236}">
                <a16:creationId xmlns:a16="http://schemas.microsoft.com/office/drawing/2014/main" id="{D2CF8883-22F6-4DD9-8F29-93EF27BBA7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" y="-1825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183C2C-C0DF-4ED6-B633-B6A7DB96B18A}"/>
              </a:ext>
            </a:extLst>
          </p:cNvPr>
          <p:cNvSpPr/>
          <p:nvPr/>
        </p:nvSpPr>
        <p:spPr bwMode="auto">
          <a:xfrm>
            <a:off x="1260474" y="25374600"/>
            <a:ext cx="11692514" cy="1590426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96" name="Text Box 246">
            <a:extLst>
              <a:ext uri="{FF2B5EF4-FFF2-40B4-BE49-F238E27FC236}">
                <a16:creationId xmlns:a16="http://schemas.microsoft.com/office/drawing/2014/main" id="{0D519F76-B7BE-425A-AC41-D39A085D8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7065358"/>
            <a:ext cx="11811000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dirty="0">
                <a:latin typeface="Arial Rounded MT Bold" panose="020F0704030504030204" pitchFamily="34" charset="0"/>
                <a:cs typeface="Arial" panose="020B0604020202020204" pitchFamily="34" charset="0"/>
              </a:rPr>
              <a:t>Tim Sort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E57BB-381E-40B9-8724-23CF6E4C8CFB}"/>
              </a:ext>
            </a:extLst>
          </p:cNvPr>
          <p:cNvSpPr/>
          <p:nvPr/>
        </p:nvSpPr>
        <p:spPr bwMode="auto">
          <a:xfrm>
            <a:off x="13513109" y="27481637"/>
            <a:ext cx="16585890" cy="513196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1676B9-7CEF-49FD-8654-21BD50062E49}"/>
              </a:ext>
            </a:extLst>
          </p:cNvPr>
          <p:cNvSpPr/>
          <p:nvPr/>
        </p:nvSpPr>
        <p:spPr bwMode="auto">
          <a:xfrm>
            <a:off x="13513109" y="19431000"/>
            <a:ext cx="7975292" cy="570779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</a:p>
        </p:txBody>
      </p:sp>
      <p:sp>
        <p:nvSpPr>
          <p:cNvPr id="43" name="Text Box 246">
            <a:extLst>
              <a:ext uri="{FF2B5EF4-FFF2-40B4-BE49-F238E27FC236}">
                <a16:creationId xmlns:a16="http://schemas.microsoft.com/office/drawing/2014/main" id="{EF4523A8-4B5B-40CC-8435-62414C978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0" y="7077710"/>
            <a:ext cx="1676399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Pipeline</a:t>
            </a:r>
          </a:p>
        </p:txBody>
      </p:sp>
      <p:sp>
        <p:nvSpPr>
          <p:cNvPr id="49" name="Text Box 244">
            <a:extLst>
              <a:ext uri="{FF2B5EF4-FFF2-40B4-BE49-F238E27FC236}">
                <a16:creationId xmlns:a16="http://schemas.microsoft.com/office/drawing/2014/main" id="{083C164D-BCF8-4F1A-BDEE-2466F2FF8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234" y="24307800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Sortedness</a:t>
            </a:r>
            <a:endParaRPr lang="en-US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Box 251">
            <a:extLst>
              <a:ext uri="{FF2B5EF4-FFF2-40B4-BE49-F238E27FC236}">
                <a16:creationId xmlns:a16="http://schemas.microsoft.com/office/drawing/2014/main" id="{6DBE9EBE-CF50-4E74-8A06-0139DFEDB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953374"/>
            <a:ext cx="11811000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Background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069631-492D-431E-8C0D-7296F4B24180}"/>
              </a:ext>
            </a:extLst>
          </p:cNvPr>
          <p:cNvSpPr/>
          <p:nvPr/>
        </p:nvSpPr>
        <p:spPr bwMode="auto">
          <a:xfrm>
            <a:off x="30734307" y="8873426"/>
            <a:ext cx="11977381" cy="7459314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20B2238-2722-4388-8D52-2A5DE44138BC}"/>
              </a:ext>
            </a:extLst>
          </p:cNvPr>
          <p:cNvSpPr/>
          <p:nvPr/>
        </p:nvSpPr>
        <p:spPr bwMode="auto">
          <a:xfrm>
            <a:off x="30734307" y="19024022"/>
            <a:ext cx="11996686" cy="423284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  <a:defRPr/>
            </a:pP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48000" y="1050482"/>
            <a:ext cx="438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blobid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295400"/>
            <a:ext cx="7115107" cy="253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048000" y="3886200"/>
            <a:ext cx="8077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47AA42"/>
                </a:solidFill>
                <a:effectLst/>
                <a:latin typeface="inherit"/>
                <a:ea typeface="Times New Roman" panose="02020603050405020304" pitchFamily="18" charset="0"/>
                <a:cs typeface="Arial" panose="020B0604020202020204" pitchFamily="34" charset="0"/>
              </a:rPr>
              <a:t>Your future. Our promise.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16519-51CB-23EC-022F-1E4636064804}"/>
              </a:ext>
            </a:extLst>
          </p:cNvPr>
          <p:cNvSpPr/>
          <p:nvPr/>
        </p:nvSpPr>
        <p:spPr bwMode="auto">
          <a:xfrm>
            <a:off x="1066801" y="8443679"/>
            <a:ext cx="11810999" cy="2579261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 sort is cool and awesome.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3E754C-AD82-FDA6-1F4E-12153C20D966}"/>
              </a:ext>
            </a:extLst>
          </p:cNvPr>
          <p:cNvGrpSpPr/>
          <p:nvPr/>
        </p:nvGrpSpPr>
        <p:grpSpPr>
          <a:xfrm>
            <a:off x="1062617" y="11166747"/>
            <a:ext cx="11890372" cy="3920853"/>
            <a:chOff x="1062617" y="14209559"/>
            <a:chExt cx="11890372" cy="3920853"/>
          </a:xfrm>
        </p:grpSpPr>
        <p:sp>
          <p:nvSpPr>
            <p:cNvPr id="14" name="Text Box 242">
              <a:extLst>
                <a:ext uri="{FF2B5EF4-FFF2-40B4-BE49-F238E27FC236}">
                  <a16:creationId xmlns:a16="http://schemas.microsoft.com/office/drawing/2014/main" id="{4F85EB67-FB31-6363-7BE2-F325E69AF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617" y="14244212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 Box 242">
              <a:extLst>
                <a:ext uri="{FF2B5EF4-FFF2-40B4-BE49-F238E27FC236}">
                  <a16:creationId xmlns:a16="http://schemas.microsoft.com/office/drawing/2014/main" id="{A794D30E-CA19-8EA2-249F-A727F6D8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14209559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" name="Picture 8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58C65097-B0FC-02A7-39A3-BF9791544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3485" y="15085841"/>
              <a:ext cx="3519643" cy="1971000"/>
            </a:xfrm>
            <a:prstGeom prst="rect">
              <a:avLst/>
            </a:prstGeom>
          </p:spPr>
        </p:pic>
        <p:sp>
          <p:nvSpPr>
            <p:cNvPr id="20" name="Text Box 242">
              <a:extLst>
                <a:ext uri="{FF2B5EF4-FFF2-40B4-BE49-F238E27FC236}">
                  <a16:creationId xmlns:a16="http://schemas.microsoft.com/office/drawing/2014/main" id="{1A1C451F-A5F6-F700-B728-5A9EB86EBC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6789" y="14209559"/>
              <a:ext cx="3886200" cy="3886200"/>
            </a:xfrm>
            <a:prstGeom prst="rect">
              <a:avLst/>
            </a:prstGeom>
            <a:solidFill>
              <a:schemeClr val="bg1"/>
            </a:solidFill>
            <a:ln w="57150" cmpd="thinThick">
              <a:solidFill>
                <a:srgbClr val="00467F"/>
              </a:solidFill>
              <a:miter lim="800000"/>
              <a:headEnd/>
              <a:tailEnd/>
            </a:ln>
          </p:spPr>
          <p:txBody>
            <a:bodyPr wrap="square" lIns="182880" tIns="91440" rIns="182880" bIns="182880">
              <a:spAutoFit/>
            </a:bodyPr>
            <a:lstStyle>
              <a:lvl1pPr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61277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612775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1" name="Picture 20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865939F9-2E1A-D7B1-1411-D6E029962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877"/>
            <a:stretch>
              <a:fillRect/>
            </a:stretch>
          </p:blipFill>
          <p:spPr>
            <a:xfrm>
              <a:off x="5371666" y="14706599"/>
              <a:ext cx="3059815" cy="2918743"/>
            </a:xfrm>
            <a:prstGeom prst="rect">
              <a:avLst/>
            </a:prstGeom>
          </p:spPr>
        </p:pic>
        <p:pic>
          <p:nvPicPr>
            <p:cNvPr id="23" name="Picture 2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3DC1451-B452-A047-156C-4F95D7894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588" t="34600" r="30176" b="12356"/>
            <a:stretch>
              <a:fillRect/>
            </a:stretch>
          </p:blipFill>
          <p:spPr>
            <a:xfrm>
              <a:off x="9354209" y="15132379"/>
              <a:ext cx="3235081" cy="1896753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D3FCE-9A57-3685-D587-882D17089D4A}"/>
              </a:ext>
            </a:extLst>
          </p:cNvPr>
          <p:cNvSpPr/>
          <p:nvPr/>
        </p:nvSpPr>
        <p:spPr bwMode="auto">
          <a:xfrm>
            <a:off x="13533653" y="8407758"/>
            <a:ext cx="16585891" cy="8663713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Text Box 246">
            <a:extLst>
              <a:ext uri="{FF2B5EF4-FFF2-40B4-BE49-F238E27FC236}">
                <a16:creationId xmlns:a16="http://schemas.microsoft.com/office/drawing/2014/main" id="{BAA3A09C-FDCA-638C-D131-06380D5C6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13108" y="18295203"/>
            <a:ext cx="16763999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71500" indent="-5715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 eaLnBrk="1" hangingPunct="1"/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Linear Regression – Tau Distance vs Instruction Count</a:t>
            </a:r>
          </a:p>
        </p:txBody>
      </p:sp>
      <p:pic>
        <p:nvPicPr>
          <p:cNvPr id="8" name="Picture 7" descr="A diagram of a machine&#10;&#10;AI-generated content may be incorrect.">
            <a:extLst>
              <a:ext uri="{FF2B5EF4-FFF2-40B4-BE49-F238E27FC236}">
                <a16:creationId xmlns:a16="http://schemas.microsoft.com/office/drawing/2014/main" id="{020F9104-BE8D-0EAC-3725-BCD2E8BE8A7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84"/>
          <a:stretch>
            <a:fillRect/>
          </a:stretch>
        </p:blipFill>
        <p:spPr>
          <a:xfrm>
            <a:off x="13567753" y="8443679"/>
            <a:ext cx="16509120" cy="8627792"/>
          </a:xfrm>
          <a:prstGeom prst="rect">
            <a:avLst/>
          </a:prstGeom>
        </p:spPr>
      </p:pic>
      <p:sp>
        <p:nvSpPr>
          <p:cNvPr id="10" name="Text Box 251">
            <a:extLst>
              <a:ext uri="{FF2B5EF4-FFF2-40B4-BE49-F238E27FC236}">
                <a16:creationId xmlns:a16="http://schemas.microsoft.com/office/drawing/2014/main" id="{87A4D731-98E9-8BB4-B860-592E26C01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508069"/>
            <a:ext cx="11811000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Purpose</a:t>
            </a:r>
          </a:p>
        </p:txBody>
      </p:sp>
      <p:sp>
        <p:nvSpPr>
          <p:cNvPr id="12" name="Text Box 244">
            <a:extLst>
              <a:ext uri="{FF2B5EF4-FFF2-40B4-BE49-F238E27FC236}">
                <a16:creationId xmlns:a16="http://schemas.microsoft.com/office/drawing/2014/main" id="{7987D54D-DEF2-1F5A-70B2-AAFBF4121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459200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Algorithm Analysis</a:t>
            </a:r>
          </a:p>
        </p:txBody>
      </p:sp>
      <p:sp>
        <p:nvSpPr>
          <p:cNvPr id="13" name="Text Box 244">
            <a:extLst>
              <a:ext uri="{FF2B5EF4-FFF2-40B4-BE49-F238E27FC236}">
                <a16:creationId xmlns:a16="http://schemas.microsoft.com/office/drawing/2014/main" id="{8031E9D9-ABD1-FF45-FF05-2A6DBFA21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234" y="19590603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Data Pipelines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2D441-C1A8-5BBE-E115-90E7186C14EA}"/>
              </a:ext>
            </a:extLst>
          </p:cNvPr>
          <p:cNvSpPr/>
          <p:nvPr/>
        </p:nvSpPr>
        <p:spPr bwMode="auto">
          <a:xfrm>
            <a:off x="1142999" y="17986801"/>
            <a:ext cx="11809989" cy="1139399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9780B8-73D1-EC87-6D8E-8DC1FCE7EF1A}"/>
              </a:ext>
            </a:extLst>
          </p:cNvPr>
          <p:cNvSpPr/>
          <p:nvPr/>
        </p:nvSpPr>
        <p:spPr bwMode="auto">
          <a:xfrm>
            <a:off x="1143000" y="20955000"/>
            <a:ext cx="11809989" cy="1139399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Box 244">
            <a:extLst>
              <a:ext uri="{FF2B5EF4-FFF2-40B4-BE49-F238E27FC236}">
                <a16:creationId xmlns:a16="http://schemas.microsoft.com/office/drawing/2014/main" id="{AC85CACE-4CB3-19E7-531C-BD813F1B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422" y="28208010"/>
            <a:ext cx="11632566" cy="83099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514350" indent="-514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Video Data</a:t>
            </a:r>
          </a:p>
        </p:txBody>
      </p:sp>
      <p:sp>
        <p:nvSpPr>
          <p:cNvPr id="25" name="Text Box 250">
            <a:extLst>
              <a:ext uri="{FF2B5EF4-FFF2-40B4-BE49-F238E27FC236}">
                <a16:creationId xmlns:a16="http://schemas.microsoft.com/office/drawing/2014/main" id="{3CCAE919-D61E-36D6-89A6-D5AE29308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9311" y="26404669"/>
            <a:ext cx="1658588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Conclusion</a:t>
            </a:r>
          </a:p>
        </p:txBody>
      </p:sp>
      <p:sp>
        <p:nvSpPr>
          <p:cNvPr id="27" name="Text Box 250">
            <a:extLst>
              <a:ext uri="{FF2B5EF4-FFF2-40B4-BE49-F238E27FC236}">
                <a16:creationId xmlns:a16="http://schemas.microsoft.com/office/drawing/2014/main" id="{520EA313-85B2-C6EC-6C4D-C4EE02988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9800" y="17449800"/>
            <a:ext cx="16585889" cy="646331"/>
          </a:xfrm>
          <a:prstGeom prst="rect">
            <a:avLst/>
          </a:prstGeom>
          <a:solidFill>
            <a:srgbClr val="49A94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CN" sz="3600" b="1" dirty="0">
                <a:latin typeface="Arial Rounded MT Bold" panose="020F0704030504030204" pitchFamily="34" charset="0"/>
                <a:ea typeface="SimSun" panose="02010600030101010101" pitchFamily="2" charset="-122"/>
                <a:cs typeface="Lucida Sans" panose="020B0602030504020204" pitchFamily="34" charset="0"/>
              </a:rPr>
              <a:t>Outcomes</a:t>
            </a:r>
          </a:p>
        </p:txBody>
      </p:sp>
      <p:sp>
        <p:nvSpPr>
          <p:cNvPr id="28" name="Text Box 246">
            <a:extLst>
              <a:ext uri="{FF2B5EF4-FFF2-40B4-BE49-F238E27FC236}">
                <a16:creationId xmlns:a16="http://schemas.microsoft.com/office/drawing/2014/main" id="{7DF44C11-F7CF-641C-554B-4DF46D472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7536" y="27774613"/>
            <a:ext cx="12166864" cy="876587"/>
          </a:xfrm>
          <a:prstGeom prst="rect">
            <a:avLst/>
          </a:prstGeom>
          <a:solidFill>
            <a:schemeClr val="bg1"/>
          </a:solidFill>
          <a:ln w="57150" cmpd="thinThick">
            <a:solidFill>
              <a:srgbClr val="00467F"/>
            </a:solidFill>
            <a:miter lim="800000"/>
            <a:headEnd/>
            <a:tailEnd/>
          </a:ln>
        </p:spPr>
        <p:txBody>
          <a:bodyPr wrap="square" lIns="182880" tIns="91440" rIns="182880" bIns="182880">
            <a:spAutoFit/>
          </a:bodyPr>
          <a:lstStyle>
            <a:lvl1pPr marL="457200" indent="-4572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2154238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21542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defRPr/>
            </a:pPr>
            <a:r>
              <a:rPr lang="en-US" altLang="zh-CN" sz="3600" dirty="0">
                <a:latin typeface="Arial Rounded MT Bold" pitchFamily="34" charset="0"/>
                <a:ea typeface="SimSun" panose="02010600030101010101" pitchFamily="2" charset="-122"/>
              </a:rPr>
              <a:t>Advanced Video Analysis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F71AA-6848-F1F4-9946-7490B543527C}"/>
              </a:ext>
            </a:extLst>
          </p:cNvPr>
          <p:cNvSpPr/>
          <p:nvPr/>
        </p:nvSpPr>
        <p:spPr bwMode="auto">
          <a:xfrm>
            <a:off x="21945600" y="19431000"/>
            <a:ext cx="8232648" cy="5707797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00467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7030A0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  <a:fontScheme name="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12164</TotalTime>
  <Words>66</Words>
  <Application>Microsoft Office PowerPoint</Application>
  <PresentationFormat>Custom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SimSun</vt:lpstr>
      <vt:lpstr>Arial</vt:lpstr>
      <vt:lpstr>Arial Narrow</vt:lpstr>
      <vt:lpstr>Arial Rounded MT Bold</vt:lpstr>
      <vt:lpstr>inherit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Caden Pink01</cp:lastModifiedBy>
  <cp:revision>144</cp:revision>
  <cp:lastPrinted>2000-08-03T00:31:24Z</cp:lastPrinted>
  <dcterms:created xsi:type="dcterms:W3CDTF">2000-02-09T15:01:13Z</dcterms:created>
  <dcterms:modified xsi:type="dcterms:W3CDTF">2025-12-07T21:20:07Z</dcterms:modified>
  <cp:category>research posters template</cp:category>
</cp:coreProperties>
</file>