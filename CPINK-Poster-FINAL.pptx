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9239250" cy="119824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8">
          <p15:clr>
            <a:srgbClr val="A4A3A4"/>
          </p15:clr>
        </p15:guide>
        <p15:guide id="2" pos="13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F"/>
    <a:srgbClr val="49A942"/>
    <a:srgbClr val="EAEAEA"/>
    <a:srgbClr val="3399FF"/>
    <a:srgbClr val="A9A9BB"/>
    <a:srgbClr val="ABABB9"/>
    <a:srgbClr val="9E9EC6"/>
    <a:srgbClr val="969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80" autoAdjust="0"/>
  </p:normalViewPr>
  <p:slideViewPr>
    <p:cSldViewPr>
      <p:cViewPr>
        <p:scale>
          <a:sx n="25" d="100"/>
          <a:sy n="25" d="100"/>
        </p:scale>
        <p:origin x="648" y="48"/>
      </p:cViewPr>
      <p:guideLst>
        <p:guide orient="horz" pos="11088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7" d="100"/>
          <a:sy n="37" d="100"/>
        </p:scale>
        <p:origin x="-1488" y="-84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2F7628-5DEC-4274-B042-DEAB73BCB9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t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5780DA5-E60C-48AB-BABA-13FBAC13AA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t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B979CAC-25B4-4440-A834-F0C95D592A4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b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49B88FA-BE5D-451B-976C-B8F7DABEBB8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b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a typeface="SimSun" panose="02010600030101010101" pitchFamily="2" charset="-122"/>
              </a:defRPr>
            </a:lvl1pPr>
          </a:lstStyle>
          <a:p>
            <a:fld id="{1B5F4263-7671-4157-BC8B-82620DAFBA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C4C7378-A07E-4D19-8F09-CE2ABA85E0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t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5BDA01E-FD78-4DB8-B26F-765487064B3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t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E16CE77-C1DC-47CF-9E80-4E376C3E813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82738" y="889000"/>
            <a:ext cx="605948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98A3185-B7B7-4DE7-9439-78C83058C26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82A6C2F-0DF7-4302-BFE3-59642A1309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b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91A61901-FC6E-4804-9197-313B05DBF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b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a typeface="SimSun" panose="02010600030101010101" pitchFamily="2" charset="-122"/>
              </a:defRPr>
            </a:lvl1pPr>
          </a:lstStyle>
          <a:p>
            <a:fld id="{B3F8F178-920E-4378-96A1-F9CFE17A072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10E21FE3-172D-4BC8-A955-012E1FAAB0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28C9F66-2A22-4BDA-8878-C0420EC06063}" type="slidenum">
              <a:rPr lang="zh-CN" altLang="en-US" sz="1500">
                <a:ea typeface="SimSun" panose="02010600030101010101" pitchFamily="2" charset="-122"/>
              </a:rPr>
              <a:pPr/>
              <a:t>1</a:t>
            </a:fld>
            <a:endParaRPr lang="en-US" altLang="zh-CN" sz="1500">
              <a:ea typeface="SimSun" panose="02010600030101010101" pitchFamily="2" charset="-122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4A8F11A3-8FD0-4D32-83E2-A36CB084A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1D2D999-FD14-4211-8A03-3A5E2EC9F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6" cy="7054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8570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7680325"/>
            <a:ext cx="39502644" cy="21724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815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6" cy="653732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6" cy="72009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382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7680325"/>
            <a:ext cx="19683588" cy="217249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7680325"/>
            <a:ext cx="19683589" cy="217249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07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1"/>
            <a:ext cx="19392900" cy="18965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6" y="7369176"/>
            <a:ext cx="19401367" cy="30702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6" y="10439401"/>
            <a:ext cx="19401367" cy="18965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245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012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88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1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6" cy="2720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9"/>
            <a:ext cx="26334156" cy="19750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6" cy="386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175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7680325"/>
            <a:ext cx="39502644" cy="217249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6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7" y="1317625"/>
            <a:ext cx="9874956" cy="280876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1317625"/>
            <a:ext cx="29492222" cy="280876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924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2pPr>
      <a:lvl3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3pPr>
      <a:lvl4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4pPr>
      <a:lvl5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5pPr>
      <a:lvl6pPr marL="4572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6pPr>
      <a:lvl7pPr marL="9144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7pPr>
      <a:lvl8pPr marL="13716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8pPr>
      <a:lvl9pPr marL="18288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9pPr>
    </p:titleStyle>
    <p:bodyStyle>
      <a:lvl1pPr marL="1150938" indent="-1150938" algn="l" defTabSz="3074988" rtl="0" eaLnBrk="0" fontAlgn="base" hangingPunct="0">
        <a:spcBef>
          <a:spcPct val="20000"/>
        </a:spcBef>
        <a:spcAft>
          <a:spcPct val="0"/>
        </a:spcAft>
        <a:buChar char="•"/>
        <a:defRPr sz="107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497138" indent="-960438" algn="l" defTabSz="3074988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  <a:ea typeface="MS PGothic" pitchFamily="34" charset="-128"/>
        </a:defRPr>
      </a:lvl2pPr>
      <a:lvl3pPr marL="3843338" indent="-768350" algn="l" defTabSz="3074988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  <a:ea typeface="MS PGothic" pitchFamily="34" charset="-128"/>
        </a:defRPr>
      </a:lvl3pPr>
      <a:lvl4pPr marL="5384800" indent="-773113" algn="l" defTabSz="3074988" rtl="0" eaLnBrk="0" fontAlgn="base" hangingPunct="0">
        <a:spcBef>
          <a:spcPct val="20000"/>
        </a:spcBef>
        <a:spcAft>
          <a:spcPct val="0"/>
        </a:spcAft>
        <a:buChar char="–"/>
        <a:defRPr sz="6500">
          <a:solidFill>
            <a:schemeClr val="tx1"/>
          </a:solidFill>
          <a:latin typeface="+mn-lt"/>
          <a:ea typeface="MS PGothic" pitchFamily="34" charset="-128"/>
        </a:defRPr>
      </a:lvl4pPr>
      <a:lvl5pPr marL="69215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  <a:ea typeface="MS PGothic" pitchFamily="34" charset="-128"/>
        </a:defRPr>
      </a:lvl5pPr>
      <a:lvl6pPr marL="73787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8359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2931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7503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1.wdp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41">
            <a:extLst>
              <a:ext uri="{FF2B5EF4-FFF2-40B4-BE49-F238E27FC236}">
                <a16:creationId xmlns:a16="http://schemas.microsoft.com/office/drawing/2014/main" id="{1924D29A-22BD-4713-861D-0B5CFD588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85800"/>
            <a:ext cx="41757600" cy="4191000"/>
          </a:xfrm>
          <a:prstGeom prst="rect">
            <a:avLst/>
          </a:prstGeom>
          <a:solidFill>
            <a:srgbClr val="00467F"/>
          </a:solidFill>
          <a:ln w="38100">
            <a:solidFill>
              <a:srgbClr val="00467F"/>
            </a:solidFill>
            <a:miter lim="800000"/>
            <a:headEnd/>
            <a:tailEnd/>
          </a:ln>
        </p:spPr>
        <p:txBody>
          <a:bodyPr lIns="61170" tIns="30584" rIns="61170" bIns="30584" anchor="ctr"/>
          <a:lstStyle>
            <a:lvl1pPr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zh-CN" sz="4200" b="1" i="1" dirty="0">
              <a:solidFill>
                <a:schemeClr val="bg1"/>
              </a:solidFill>
              <a:latin typeface="Arial Rounded MT Bold" panose="020F0704030504030204" pitchFamily="34" charset="0"/>
              <a:ea typeface="SimSun" panose="02010600030101010101" pitchFamily="2" charset="-122"/>
            </a:endParaRPr>
          </a:p>
        </p:txBody>
      </p:sp>
      <p:sp>
        <p:nvSpPr>
          <p:cNvPr id="1030" name="Text Box 246">
            <a:extLst>
              <a:ext uri="{FF2B5EF4-FFF2-40B4-BE49-F238E27FC236}">
                <a16:creationId xmlns:a16="http://schemas.microsoft.com/office/drawing/2014/main" id="{D868B84A-8655-434E-ADC5-2F49741DC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0342" y="20269200"/>
            <a:ext cx="12166864" cy="87658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457200" indent="-4572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defRPr/>
            </a:pPr>
            <a:r>
              <a:rPr lang="en-US" altLang="zh-CN" sz="3600" dirty="0">
                <a:latin typeface="Arial Rounded MT Bold" pitchFamily="34" charset="0"/>
                <a:ea typeface="SimSun" panose="02010600030101010101" pitchFamily="2" charset="-122"/>
              </a:rPr>
              <a:t>Polyglottal Implementation</a:t>
            </a:r>
          </a:p>
        </p:txBody>
      </p:sp>
      <p:sp>
        <p:nvSpPr>
          <p:cNvPr id="3080" name="Text Box 249">
            <a:extLst>
              <a:ext uri="{FF2B5EF4-FFF2-40B4-BE49-F238E27FC236}">
                <a16:creationId xmlns:a16="http://schemas.microsoft.com/office/drawing/2014/main" id="{BE208DDC-7685-4CF5-872F-32BA75BA8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0" y="5871761"/>
            <a:ext cx="16763999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Obtaining Data</a:t>
            </a:r>
          </a:p>
        </p:txBody>
      </p:sp>
      <p:sp>
        <p:nvSpPr>
          <p:cNvPr id="3083" name="Text Box 252">
            <a:extLst>
              <a:ext uri="{FF2B5EF4-FFF2-40B4-BE49-F238E27FC236}">
                <a16:creationId xmlns:a16="http://schemas.microsoft.com/office/drawing/2014/main" id="{A0048218-560D-4F90-A6F9-D51CFFAF4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2113" y="19278600"/>
            <a:ext cx="12064469" cy="710964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Future Development</a:t>
            </a:r>
          </a:p>
        </p:txBody>
      </p:sp>
      <p:sp>
        <p:nvSpPr>
          <p:cNvPr id="3084" name="Text Box 253">
            <a:extLst>
              <a:ext uri="{FF2B5EF4-FFF2-40B4-BE49-F238E27FC236}">
                <a16:creationId xmlns:a16="http://schemas.microsoft.com/office/drawing/2014/main" id="{BCE9F985-441A-45CF-89F8-05BD30D36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0" y="16992600"/>
            <a:ext cx="16763999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Data Processing</a:t>
            </a:r>
          </a:p>
        </p:txBody>
      </p:sp>
      <p:sp>
        <p:nvSpPr>
          <p:cNvPr id="3085" name="Text Box 241">
            <a:extLst>
              <a:ext uri="{FF2B5EF4-FFF2-40B4-BE49-F238E27FC236}">
                <a16:creationId xmlns:a16="http://schemas.microsoft.com/office/drawing/2014/main" id="{1C65DBA1-C534-45D4-AD8B-AD5245430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914400"/>
            <a:ext cx="41605200" cy="3681413"/>
          </a:xfrm>
          <a:prstGeom prst="rect">
            <a:avLst/>
          </a:prstGeom>
          <a:solidFill>
            <a:schemeClr val="bg1"/>
          </a:solidFill>
          <a:ln w="38100">
            <a:solidFill>
              <a:srgbClr val="49A942"/>
            </a:solidFill>
            <a:miter lim="800000"/>
            <a:headEnd/>
            <a:tailEnd/>
          </a:ln>
        </p:spPr>
        <p:txBody>
          <a:bodyPr lIns="61170" tIns="30584" rIns="61170" bIns="30584" anchor="ctr"/>
          <a:lstStyle>
            <a:lvl1pPr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zh-CN" sz="4200" b="1" i="1">
              <a:solidFill>
                <a:schemeClr val="bg1"/>
              </a:solidFill>
              <a:latin typeface="Arial Rounded MT Bold" panose="020F0704030504030204" pitchFamily="34" charset="0"/>
              <a:ea typeface="SimSun" panose="02010600030101010101" pitchFamily="2" charset="-122"/>
            </a:endParaRPr>
          </a:p>
        </p:txBody>
      </p:sp>
      <p:sp>
        <p:nvSpPr>
          <p:cNvPr id="3086" name="Text Box 262">
            <a:extLst>
              <a:ext uri="{FF2B5EF4-FFF2-40B4-BE49-F238E27FC236}">
                <a16:creationId xmlns:a16="http://schemas.microsoft.com/office/drawing/2014/main" id="{1A7C2E48-07C9-4A79-8ED7-B4B33D607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685800"/>
            <a:ext cx="301752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170" tIns="30584" rIns="61170" bIns="30584" anchor="ctr"/>
          <a:lstStyle>
            <a:lvl1pPr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5600" b="1" dirty="0">
                <a:solidFill>
                  <a:srgbClr val="00467F"/>
                </a:solidFill>
                <a:latin typeface="Arial Rounded MT Bold" panose="020F0704030504030204" pitchFamily="34" charset="0"/>
                <a:ea typeface="SimSun" panose="02010600030101010101" pitchFamily="2" charset="-122"/>
              </a:rPr>
              <a:t>Benchmarking Algorithms With Color</a:t>
            </a:r>
          </a:p>
          <a:p>
            <a:pPr algn="ctr"/>
            <a:r>
              <a:rPr lang="en-US" altLang="zh-CN" sz="4600" b="1" dirty="0">
                <a:solidFill>
                  <a:srgbClr val="00467F"/>
                </a:solidFill>
                <a:latin typeface="Arial Rounded MT Bold" panose="020F0704030504030204" pitchFamily="34" charset="0"/>
                <a:ea typeface="SimSun" panose="02010600030101010101" pitchFamily="2" charset="-122"/>
              </a:rPr>
              <a:t>Caden Pink</a:t>
            </a:r>
            <a:endParaRPr lang="en-US" altLang="zh-CN" sz="4600" b="1" dirty="0">
              <a:solidFill>
                <a:srgbClr val="00467F"/>
              </a:solidFill>
              <a:latin typeface="Arial Narrow" panose="020B060602020203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4200" b="1" dirty="0">
                <a:solidFill>
                  <a:srgbClr val="00467F"/>
                </a:solidFill>
                <a:latin typeface="Arial Narrow" panose="020B0606020202030204" pitchFamily="34" charset="0"/>
                <a:ea typeface="SimSun" panose="02010600030101010101" pitchFamily="2" charset="-122"/>
              </a:rPr>
              <a:t>Faculty Sponsor: Dr. Regina Rahn</a:t>
            </a:r>
            <a:endParaRPr lang="en-US" altLang="zh-CN" sz="4200" dirty="0">
              <a:solidFill>
                <a:srgbClr val="00467F"/>
              </a:solidFill>
              <a:latin typeface="Arial Rounded MT Bold" panose="020F070403050403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4200" b="1" dirty="0">
                <a:solidFill>
                  <a:srgbClr val="00467F"/>
                </a:solidFill>
                <a:latin typeface="Arial Rounded MT Bold" panose="020F0704030504030204" pitchFamily="34" charset="0"/>
                <a:ea typeface="SimSun" panose="02010600030101010101" pitchFamily="2" charset="-122"/>
              </a:rPr>
              <a:t>Aurora University</a:t>
            </a:r>
          </a:p>
        </p:txBody>
      </p:sp>
      <p:sp>
        <p:nvSpPr>
          <p:cNvPr id="3" name="AutoShape 32" descr="http://web.mail.comcast.net/service/home/~/?auth=co&amp;id=468461&amp;part=2">
            <a:extLst>
              <a:ext uri="{FF2B5EF4-FFF2-40B4-BE49-F238E27FC236}">
                <a16:creationId xmlns:a16="http://schemas.microsoft.com/office/drawing/2014/main" id="{D2CF8883-22F6-4DD9-8F29-93EF27BBA7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" y="-1825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183C2C-C0DF-4ED6-B633-B6A7DB96B18A}"/>
              </a:ext>
            </a:extLst>
          </p:cNvPr>
          <p:cNvSpPr/>
          <p:nvPr/>
        </p:nvSpPr>
        <p:spPr bwMode="auto">
          <a:xfrm>
            <a:off x="13335000" y="8140194"/>
            <a:ext cx="16763999" cy="1590426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Sortedness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how close a list of numbers is to being ordered.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Importance: 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 Sort utilizes the natural order from real data to increase performance.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stretch of naturally increasing or decreasing numbers in a list.</a:t>
            </a:r>
          </a:p>
        </p:txBody>
      </p:sp>
      <p:sp>
        <p:nvSpPr>
          <p:cNvPr id="3096" name="Text Box 246">
            <a:extLst>
              <a:ext uri="{FF2B5EF4-FFF2-40B4-BE49-F238E27FC236}">
                <a16:creationId xmlns:a16="http://schemas.microsoft.com/office/drawing/2014/main" id="{0D519F76-B7BE-425A-AC41-D39A085D8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941403"/>
            <a:ext cx="11811000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/>
            <a:r>
              <a:rPr lang="en-US" altLang="en-US" sz="3600" dirty="0">
                <a:latin typeface="Arial Rounded MT Bold" panose="020F0704030504030204" pitchFamily="34" charset="0"/>
                <a:cs typeface="Arial" panose="020B0604020202020204" pitchFamily="34" charset="0"/>
              </a:rPr>
              <a:t>Tim Sort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E57BB-381E-40B9-8724-23CF6E4C8CFB}"/>
              </a:ext>
            </a:extLst>
          </p:cNvPr>
          <p:cNvSpPr/>
          <p:nvPr/>
        </p:nvSpPr>
        <p:spPr bwMode="auto">
          <a:xfrm>
            <a:off x="30861000" y="15468600"/>
            <a:ext cx="12061819" cy="3505200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Because of the negative run density coefficient, it can be said that as the number of natural runs increases, the time needed to sort per element decreases.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This proves that Tim Sort is an adaptive algorithm.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 Run Density explains 12.4 % of time variance in this sample.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Computer performance changes, run lengths, and inversion. counts could account for the rest of the variance.</a:t>
            </a:r>
          </a:p>
        </p:txBody>
      </p:sp>
      <p:sp>
        <p:nvSpPr>
          <p:cNvPr id="43" name="Text Box 246">
            <a:extLst>
              <a:ext uri="{FF2B5EF4-FFF2-40B4-BE49-F238E27FC236}">
                <a16:creationId xmlns:a16="http://schemas.microsoft.com/office/drawing/2014/main" id="{EF4523A8-4B5B-40CC-8435-62414C978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0" y="17943731"/>
            <a:ext cx="16763999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/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 Pipeline</a:t>
            </a:r>
          </a:p>
        </p:txBody>
      </p:sp>
      <p:sp>
        <p:nvSpPr>
          <p:cNvPr id="50" name="Text Box 251">
            <a:extLst>
              <a:ext uri="{FF2B5EF4-FFF2-40B4-BE49-F238E27FC236}">
                <a16:creationId xmlns:a16="http://schemas.microsoft.com/office/drawing/2014/main" id="{6DBE9EBE-CF50-4E74-8A06-0139DFEDB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953374"/>
            <a:ext cx="11811000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Background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48000" y="1050482"/>
            <a:ext cx="438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blobid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95400"/>
            <a:ext cx="7115107" cy="253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048000" y="3886200"/>
            <a:ext cx="8077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47AA42"/>
                </a:solidFill>
                <a:effectLst/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Your future. Our promise.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16519-51CB-23EC-022F-1E4636064804}"/>
              </a:ext>
            </a:extLst>
          </p:cNvPr>
          <p:cNvSpPr/>
          <p:nvPr/>
        </p:nvSpPr>
        <p:spPr bwMode="auto">
          <a:xfrm>
            <a:off x="1066801" y="8153399"/>
            <a:ext cx="11810999" cy="4054176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 Sort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an O(n*log(n)) hybrid sorting algorithm implemented by Tim Peters in 2002 for the Python programming language. It takes advantage of existing order in real-world data. 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Sorting Algorithm: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process that re-orders a list of values in order from smallest value to greatest value.</a:t>
            </a:r>
          </a:p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Hybrid Sorting Algorithm: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sorting algorithm that utilizes at least two separate sorting algorithms. Tim Sort uses insertion sort, margining (merge sort) and some other algorithms.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3E754C-AD82-FDA6-1F4E-12153C20D966}"/>
              </a:ext>
            </a:extLst>
          </p:cNvPr>
          <p:cNvGrpSpPr/>
          <p:nvPr/>
        </p:nvGrpSpPr>
        <p:grpSpPr>
          <a:xfrm>
            <a:off x="987428" y="12343968"/>
            <a:ext cx="11966572" cy="3886632"/>
            <a:chOff x="986417" y="14244212"/>
            <a:chExt cx="11966572" cy="3886632"/>
          </a:xfrm>
        </p:grpSpPr>
        <p:sp>
          <p:nvSpPr>
            <p:cNvPr id="14" name="Text Box 242">
              <a:extLst>
                <a:ext uri="{FF2B5EF4-FFF2-40B4-BE49-F238E27FC236}">
                  <a16:creationId xmlns:a16="http://schemas.microsoft.com/office/drawing/2014/main" id="{4F85EB67-FB31-6363-7BE2-F325E69AF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6417" y="14244212"/>
              <a:ext cx="3886200" cy="388620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rgbClr val="00467F"/>
              </a:solidFill>
              <a:miter lim="800000"/>
              <a:headEnd/>
              <a:tailEnd/>
            </a:ln>
          </p:spPr>
          <p:txBody>
            <a:bodyPr wrap="square" lIns="182880" tIns="91440" rIns="182880" bIns="182880">
              <a:spAutoFit/>
            </a:bodyPr>
            <a:lstStyle>
              <a:lvl1pPr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 Box 242">
              <a:extLst>
                <a:ext uri="{FF2B5EF4-FFF2-40B4-BE49-F238E27FC236}">
                  <a16:creationId xmlns:a16="http://schemas.microsoft.com/office/drawing/2014/main" id="{A794D30E-CA19-8EA2-249F-A727F6D86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5017" y="14244644"/>
              <a:ext cx="3886200" cy="388620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rgbClr val="00467F"/>
              </a:solidFill>
              <a:miter lim="800000"/>
              <a:headEnd/>
              <a:tailEnd/>
            </a:ln>
          </p:spPr>
          <p:txBody>
            <a:bodyPr wrap="square" lIns="182880" tIns="91440" rIns="182880" bIns="182880">
              <a:spAutoFit/>
            </a:bodyPr>
            <a:lstStyle>
              <a:lvl1pPr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Picture 8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58C65097-B0FC-02A7-39A3-BF9791544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574" y="15623864"/>
              <a:ext cx="3519643" cy="1971000"/>
            </a:xfrm>
            <a:prstGeom prst="rect">
              <a:avLst/>
            </a:prstGeom>
          </p:spPr>
        </p:pic>
        <p:sp>
          <p:nvSpPr>
            <p:cNvPr id="20" name="Text Box 242">
              <a:extLst>
                <a:ext uri="{FF2B5EF4-FFF2-40B4-BE49-F238E27FC236}">
                  <a16:creationId xmlns:a16="http://schemas.microsoft.com/office/drawing/2014/main" id="{1A1C451F-A5F6-F700-B728-5A9EB86EB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6789" y="14244644"/>
              <a:ext cx="3886200" cy="388620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rgbClr val="00467F"/>
              </a:solidFill>
              <a:miter lim="800000"/>
              <a:headEnd/>
              <a:tailEnd/>
            </a:ln>
          </p:spPr>
          <p:txBody>
            <a:bodyPr wrap="square" lIns="182880" tIns="91440" rIns="182880" bIns="182880">
              <a:spAutoFit/>
            </a:bodyPr>
            <a:lstStyle>
              <a:lvl1pPr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20" descr="A screenshot of a game&#10;&#10;AI-generated content may be incorrect.">
              <a:extLst>
                <a:ext uri="{FF2B5EF4-FFF2-40B4-BE49-F238E27FC236}">
                  <a16:creationId xmlns:a16="http://schemas.microsoft.com/office/drawing/2014/main" id="{865939F9-2E1A-D7B1-1411-D6E029962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77"/>
            <a:stretch>
              <a:fillRect/>
            </a:stretch>
          </p:blipFill>
          <p:spPr>
            <a:xfrm>
              <a:off x="5371666" y="14983501"/>
              <a:ext cx="3059815" cy="2918743"/>
            </a:xfrm>
            <a:prstGeom prst="rect">
              <a:avLst/>
            </a:prstGeom>
          </p:spPr>
        </p:pic>
      </p:grpSp>
      <p:sp>
        <p:nvSpPr>
          <p:cNvPr id="26" name="Text Box 246">
            <a:extLst>
              <a:ext uri="{FF2B5EF4-FFF2-40B4-BE49-F238E27FC236}">
                <a16:creationId xmlns:a16="http://schemas.microsoft.com/office/drawing/2014/main" id="{BAA3A09C-FDCA-638C-D131-06380D5C6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6522" y="6858000"/>
            <a:ext cx="11831678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/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Run Density vs Sort Time Per Element</a:t>
            </a:r>
          </a:p>
        </p:txBody>
      </p:sp>
      <p:pic>
        <p:nvPicPr>
          <p:cNvPr id="8" name="Picture 7" descr="A diagram of a machine&#10;&#10;AI-generated content may be incorrect.">
            <a:extLst>
              <a:ext uri="{FF2B5EF4-FFF2-40B4-BE49-F238E27FC236}">
                <a16:creationId xmlns:a16="http://schemas.microsoft.com/office/drawing/2014/main" id="{020F9104-BE8D-0EAC-3725-BCD2E8BE8A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84"/>
          <a:stretch>
            <a:fillRect/>
          </a:stretch>
        </p:blipFill>
        <p:spPr>
          <a:xfrm>
            <a:off x="13487400" y="18973800"/>
            <a:ext cx="16509120" cy="86277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0467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 Box 251">
            <a:extLst>
              <a:ext uri="{FF2B5EF4-FFF2-40B4-BE49-F238E27FC236}">
                <a16:creationId xmlns:a16="http://schemas.microsoft.com/office/drawing/2014/main" id="{87A4D731-98E9-8BB4-B860-592E26C01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535400"/>
            <a:ext cx="11811000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Purpose</a:t>
            </a:r>
          </a:p>
        </p:txBody>
      </p:sp>
      <p:sp>
        <p:nvSpPr>
          <p:cNvPr id="12" name="Text Box 244">
            <a:extLst>
              <a:ext uri="{FF2B5EF4-FFF2-40B4-BE49-F238E27FC236}">
                <a16:creationId xmlns:a16="http://schemas.microsoft.com/office/drawing/2014/main" id="{7987D54D-DEF2-1F5A-70B2-AAFBF4121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7380803"/>
            <a:ext cx="11632566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Algorithm Analysis</a:t>
            </a:r>
          </a:p>
        </p:txBody>
      </p:sp>
      <p:sp>
        <p:nvSpPr>
          <p:cNvPr id="13" name="Text Box 244">
            <a:extLst>
              <a:ext uri="{FF2B5EF4-FFF2-40B4-BE49-F238E27FC236}">
                <a16:creationId xmlns:a16="http://schemas.microsoft.com/office/drawing/2014/main" id="{8031E9D9-ABD1-FF45-FF05-2A6DBFA21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360" y="22021800"/>
            <a:ext cx="11632566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 Pipelines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2D441-C1A8-5BBE-E115-90E7186C14EA}"/>
              </a:ext>
            </a:extLst>
          </p:cNvPr>
          <p:cNvSpPr/>
          <p:nvPr/>
        </p:nvSpPr>
        <p:spPr bwMode="auto">
          <a:xfrm>
            <a:off x="1066800" y="18464601"/>
            <a:ext cx="11809989" cy="3099999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Goal: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Prove that Tim Sort is adaptive to pre-existing order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- As the number of natural occurring runs occurs in an array, the amount of sorting time per element decreases. 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Task: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 data of different sizes and levels of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sortededness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Perform Tim Sort on all of  them, record the results.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9780B8-73D1-EC87-6D8E-8DC1FCE7EF1A}"/>
              </a:ext>
            </a:extLst>
          </p:cNvPr>
          <p:cNvSpPr/>
          <p:nvPr/>
        </p:nvSpPr>
        <p:spPr bwMode="auto">
          <a:xfrm>
            <a:off x="1066800" y="23097777"/>
            <a:ext cx="11809989" cy="334362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Develop a system of producing, curating, manipulating, and storing data in an automated method.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Use many various Python libraries and file types to produce data for the goal of implement.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OpenCV, NumPy, SciPy,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TinyDB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JSON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Manage memory and CPU usage .</a:t>
            </a:r>
          </a:p>
        </p:txBody>
      </p:sp>
      <p:sp>
        <p:nvSpPr>
          <p:cNvPr id="22" name="Text Box 244">
            <a:extLst>
              <a:ext uri="{FF2B5EF4-FFF2-40B4-BE49-F238E27FC236}">
                <a16:creationId xmlns:a16="http://schemas.microsoft.com/office/drawing/2014/main" id="{AC85CACE-4CB3-19E7-531C-BD813F1B8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4833" y="9982200"/>
            <a:ext cx="16678049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Video Data – Red, Green, and Blue Values</a:t>
            </a:r>
          </a:p>
        </p:txBody>
      </p:sp>
      <p:sp>
        <p:nvSpPr>
          <p:cNvPr id="25" name="Text Box 250">
            <a:extLst>
              <a:ext uri="{FF2B5EF4-FFF2-40B4-BE49-F238E27FC236}">
                <a16:creationId xmlns:a16="http://schemas.microsoft.com/office/drawing/2014/main" id="{3CCAE919-D61E-36D6-89A6-D5AE29308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51896" y="14555856"/>
            <a:ext cx="12064469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Conclusion</a:t>
            </a:r>
          </a:p>
        </p:txBody>
      </p:sp>
      <p:sp>
        <p:nvSpPr>
          <p:cNvPr id="28" name="Text Box 246">
            <a:extLst>
              <a:ext uri="{FF2B5EF4-FFF2-40B4-BE49-F238E27FC236}">
                <a16:creationId xmlns:a16="http://schemas.microsoft.com/office/drawing/2014/main" id="{7DF44C11-F7CF-641C-554B-4DF46D472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0342" y="25374313"/>
            <a:ext cx="12166864" cy="87658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457200" indent="-4572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defRPr/>
            </a:pPr>
            <a:r>
              <a:rPr lang="en-US" altLang="zh-CN" sz="3600" dirty="0">
                <a:latin typeface="Arial Rounded MT Bold" pitchFamily="34" charset="0"/>
                <a:ea typeface="SimSun" panose="02010600030101010101" pitchFamily="2" charset="-122"/>
              </a:rPr>
              <a:t>Advanced Video Analysis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643789-CA80-A975-0B46-65CEF26D923E}"/>
              </a:ext>
            </a:extLst>
          </p:cNvPr>
          <p:cNvGrpSpPr/>
          <p:nvPr/>
        </p:nvGrpSpPr>
        <p:grpSpPr>
          <a:xfrm>
            <a:off x="13692119" y="14020800"/>
            <a:ext cx="4562695" cy="2666341"/>
            <a:chOff x="3057306" y="28954214"/>
            <a:chExt cx="5019894" cy="2913704"/>
          </a:xfrm>
        </p:grpSpPr>
        <p:sp>
          <p:nvSpPr>
            <p:cNvPr id="5" name="Text Box 251">
              <a:extLst>
                <a:ext uri="{FF2B5EF4-FFF2-40B4-BE49-F238E27FC236}">
                  <a16:creationId xmlns:a16="http://schemas.microsoft.com/office/drawing/2014/main" id="{28258036-ACCF-B5F1-C7EC-7D7767D78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306" y="28954214"/>
              <a:ext cx="5019894" cy="2913704"/>
            </a:xfrm>
            <a:prstGeom prst="rect">
              <a:avLst/>
            </a:prstGeom>
            <a:solidFill>
              <a:srgbClr val="49A94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endParaRPr>
            </a:p>
          </p:txBody>
        </p:sp>
        <p:pic>
          <p:nvPicPr>
            <p:cNvPr id="6" name="Picture 5" descr="A pile of colorful candies&#10;&#10;AI-generated content may be incorrect.">
              <a:extLst>
                <a:ext uri="{FF2B5EF4-FFF2-40B4-BE49-F238E27FC236}">
                  <a16:creationId xmlns:a16="http://schemas.microsoft.com/office/drawing/2014/main" id="{037790B2-E1D1-3B88-DD00-3081C456E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85173" y="29192756"/>
              <a:ext cx="4463427" cy="2506444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11C43B4-7700-9AD3-8478-8D32FD9152BB}"/>
              </a:ext>
            </a:extLst>
          </p:cNvPr>
          <p:cNvSpPr/>
          <p:nvPr/>
        </p:nvSpPr>
        <p:spPr bwMode="auto">
          <a:xfrm>
            <a:off x="13394948" y="11036084"/>
            <a:ext cx="16763999" cy="2740360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Natural Order: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intensity of color of the frames in a video follow a natural order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Variety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by selecting sections of the video’s frames, a variety of distributions and degrees of order of arrays can be selected.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Ease of Access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Creating video data is simple, all it requires is a camera and something to record. The recording can even be automated.</a:t>
            </a:r>
          </a:p>
        </p:txBody>
      </p:sp>
      <p:sp>
        <p:nvSpPr>
          <p:cNvPr id="32" name="Text Box 246">
            <a:extLst>
              <a:ext uri="{FF2B5EF4-FFF2-40B4-BE49-F238E27FC236}">
                <a16:creationId xmlns:a16="http://schemas.microsoft.com/office/drawing/2014/main" id="{510884FD-EFCD-5ED8-4FB5-F0CEFFFC2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53584" y="28651200"/>
            <a:ext cx="12166864" cy="87658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457200" indent="-4572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defRPr/>
            </a:pPr>
            <a:r>
              <a:rPr lang="en-US" altLang="zh-CN" sz="3600" dirty="0">
                <a:latin typeface="Arial Rounded MT Bold" pitchFamily="34" charset="0"/>
                <a:ea typeface="SimSun" panose="02010600030101010101" pitchFamily="2" charset="-122"/>
              </a:rPr>
              <a:t>Agentic AI Data Processing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809A3E-B1FE-38D2-C433-46C0525766E5}"/>
              </a:ext>
            </a:extLst>
          </p:cNvPr>
          <p:cNvSpPr/>
          <p:nvPr/>
        </p:nvSpPr>
        <p:spPr bwMode="auto">
          <a:xfrm>
            <a:off x="30939352" y="21314505"/>
            <a:ext cx="11809989" cy="3831495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Polyglottal Programs: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polyglottal programs are written in more than one programming language. 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Importance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important in data science to handle repeated calculations in a faster programming language.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although the NumPy library is written in C, most of my program was written in regular Python. I can refactor my program to handle result filtering and validation in a C program.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6C7281-9934-1EF7-D4E5-0220114629C0}"/>
              </a:ext>
            </a:extLst>
          </p:cNvPr>
          <p:cNvSpPr/>
          <p:nvPr/>
        </p:nvSpPr>
        <p:spPr bwMode="auto">
          <a:xfrm>
            <a:off x="31006376" y="26441400"/>
            <a:ext cx="11809989" cy="1878940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Techniques: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motion analysis, entropy, random texture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Importance: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provides more data of different distributions from any video. This can increase the throughput of the data pipeline.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88173C-0191-2C08-2FBD-096783B76A3D}"/>
              </a:ext>
            </a:extLst>
          </p:cNvPr>
          <p:cNvSpPr/>
          <p:nvPr/>
        </p:nvSpPr>
        <p:spPr bwMode="auto">
          <a:xfrm>
            <a:off x="31028065" y="29718000"/>
            <a:ext cx="11809989" cy="2514600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Agentic AI: </a:t>
            </a:r>
            <a:r>
              <a:rPr lang="en-US" sz="3200" dirty="0"/>
              <a:t>advanced AI systems that can independently plan, reason, and take complex actions to achieve goals with minimal human oversight.</a:t>
            </a:r>
          </a:p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Importance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an LLM can collect video data, run the pipeline, and interpret the results.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 Box 244">
            <a:extLst>
              <a:ext uri="{FF2B5EF4-FFF2-40B4-BE49-F238E27FC236}">
                <a16:creationId xmlns:a16="http://schemas.microsoft.com/office/drawing/2014/main" id="{E155D699-423E-C620-6AD5-6641E6D67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307" y="26829603"/>
            <a:ext cx="11632566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Object Oriented Databases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FA56BD-BA86-5BE0-3EBF-4BB3AED4F9DA}"/>
              </a:ext>
            </a:extLst>
          </p:cNvPr>
          <p:cNvSpPr/>
          <p:nvPr/>
        </p:nvSpPr>
        <p:spPr bwMode="auto">
          <a:xfrm>
            <a:off x="990600" y="27957445"/>
            <a:ext cx="11809989" cy="3894155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Develop a system of producing, curating, manipulating, and storing data in an automated method. 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Develop an object-oriented database to hold data and the results of algorithms.</a:t>
            </a: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Use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TInyDB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 single file Object Oriented Database package. With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TinyDB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V3, the DB will be git merge friendly.</a:t>
            </a:r>
          </a:p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Challenge: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maintaining data integrity across multiple devices.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47" name="Text Box 244">
            <a:extLst>
              <a:ext uri="{FF2B5EF4-FFF2-40B4-BE49-F238E27FC236}">
                <a16:creationId xmlns:a16="http://schemas.microsoft.com/office/drawing/2014/main" id="{48C4AF47-B3A5-5B9E-6BA7-BAA582093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0757" y="7070486"/>
            <a:ext cx="16678049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Array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Sortedness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Box 250">
            <a:extLst>
              <a:ext uri="{FF2B5EF4-FFF2-40B4-BE49-F238E27FC236}">
                <a16:creationId xmlns:a16="http://schemas.microsoft.com/office/drawing/2014/main" id="{ACF5DC76-389F-5942-74FE-AE108EB5E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7873" y="5867400"/>
            <a:ext cx="12102575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Outcomes</a:t>
            </a:r>
          </a:p>
        </p:txBody>
      </p:sp>
      <p:sp>
        <p:nvSpPr>
          <p:cNvPr id="57" name="Text Box 244">
            <a:extLst>
              <a:ext uri="{FF2B5EF4-FFF2-40B4-BE49-F238E27FC236}">
                <a16:creationId xmlns:a16="http://schemas.microsoft.com/office/drawing/2014/main" id="{5BEA785E-70BF-05F8-F22A-7D7CDBCBC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7400" y="27889200"/>
            <a:ext cx="16678049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Removing Gray Values</a:t>
            </a:r>
          </a:p>
        </p:txBody>
      </p:sp>
      <p:pic>
        <p:nvPicPr>
          <p:cNvPr id="59" name="Picture 58" descr="A diagram of a number tree&#10;&#10;AI-generated content may be incorrect.">
            <a:extLst>
              <a:ext uri="{FF2B5EF4-FFF2-40B4-BE49-F238E27FC236}">
                <a16:creationId xmlns:a16="http://schemas.microsoft.com/office/drawing/2014/main" id="{558A0AE6-99F9-F309-295C-D3255EE92D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33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63"/>
          <a:stretch>
            <a:fillRect/>
          </a:stretch>
        </p:blipFill>
        <p:spPr>
          <a:xfrm>
            <a:off x="9142456" y="13633340"/>
            <a:ext cx="3752621" cy="1981200"/>
          </a:xfrm>
          <a:prstGeom prst="rect">
            <a:avLst/>
          </a:prstGeom>
        </p:spPr>
      </p:pic>
      <p:sp>
        <p:nvSpPr>
          <p:cNvPr id="60" name="Text Box 246">
            <a:extLst>
              <a:ext uri="{FF2B5EF4-FFF2-40B4-BE49-F238E27FC236}">
                <a16:creationId xmlns:a16="http://schemas.microsoft.com/office/drawing/2014/main" id="{F671AAB1-3BA0-1C1B-DE87-5C71ACFF0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5" y="12344400"/>
            <a:ext cx="3886200" cy="769441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ctr" eaLnBrk="1" hangingPunct="1"/>
            <a:r>
              <a:rPr lang="en-US" altLang="en-US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Sorting Algorithm</a:t>
            </a:r>
          </a:p>
        </p:txBody>
      </p:sp>
      <p:sp>
        <p:nvSpPr>
          <p:cNvPr id="61" name="Text Box 246">
            <a:extLst>
              <a:ext uri="{FF2B5EF4-FFF2-40B4-BE49-F238E27FC236}">
                <a16:creationId xmlns:a16="http://schemas.microsoft.com/office/drawing/2014/main" id="{05A81CFA-E085-A369-AC30-9B5EB226B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5" y="12344400"/>
            <a:ext cx="3886200" cy="769441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ctr" eaLnBrk="1" hangingPunct="1"/>
            <a:r>
              <a:rPr lang="en-US" altLang="en-US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Insertion Sort</a:t>
            </a:r>
          </a:p>
        </p:txBody>
      </p: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58957F7C-94CF-A2BE-07E9-7E293A470E7C}"/>
              </a:ext>
            </a:extLst>
          </p:cNvPr>
          <p:cNvGrpSpPr/>
          <p:nvPr/>
        </p:nvGrpSpPr>
        <p:grpSpPr>
          <a:xfrm>
            <a:off x="19545076" y="14020800"/>
            <a:ext cx="4562695" cy="2666341"/>
            <a:chOff x="18887388" y="14020799"/>
            <a:chExt cx="4562695" cy="2666341"/>
          </a:xfrm>
        </p:grpSpPr>
        <p:sp>
          <p:nvSpPr>
            <p:cNvPr id="1026" name="Text Box 251">
              <a:extLst>
                <a:ext uri="{FF2B5EF4-FFF2-40B4-BE49-F238E27FC236}">
                  <a16:creationId xmlns:a16="http://schemas.microsoft.com/office/drawing/2014/main" id="{64D32030-0F0B-5355-A073-4DBFF82985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87388" y="14020799"/>
              <a:ext cx="4562695" cy="2666341"/>
            </a:xfrm>
            <a:prstGeom prst="rect">
              <a:avLst/>
            </a:prstGeom>
            <a:solidFill>
              <a:srgbClr val="49A94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endParaRPr>
            </a:p>
          </p:txBody>
        </p:sp>
        <p:pic>
          <p:nvPicPr>
            <p:cNvPr id="63" name="Picture 62" descr="A close-up of a hand holding colorful play dough&#10;&#10;AI-generated content may be incorrect.">
              <a:extLst>
                <a:ext uri="{FF2B5EF4-FFF2-40B4-BE49-F238E27FC236}">
                  <a16:creationId xmlns:a16="http://schemas.microsoft.com/office/drawing/2014/main" id="{A9C0CC8C-2A44-2296-3A1A-F91CB409D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4370"/>
            <a:stretch>
              <a:fillRect/>
            </a:stretch>
          </p:blipFill>
          <p:spPr>
            <a:xfrm>
              <a:off x="19117616" y="14240847"/>
              <a:ext cx="4069610" cy="2295144"/>
            </a:xfrm>
            <a:prstGeom prst="rect">
              <a:avLst/>
            </a:prstGeom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8BEEB5D-B069-CC99-E22F-134B860641A3}"/>
              </a:ext>
            </a:extLst>
          </p:cNvPr>
          <p:cNvGrpSpPr/>
          <p:nvPr/>
        </p:nvGrpSpPr>
        <p:grpSpPr>
          <a:xfrm>
            <a:off x="25510187" y="14020800"/>
            <a:ext cx="4562695" cy="2666341"/>
            <a:chOff x="24368268" y="14116661"/>
            <a:chExt cx="4562695" cy="2666341"/>
          </a:xfrm>
        </p:grpSpPr>
        <p:sp>
          <p:nvSpPr>
            <p:cNvPr id="1035" name="Text Box 251">
              <a:extLst>
                <a:ext uri="{FF2B5EF4-FFF2-40B4-BE49-F238E27FC236}">
                  <a16:creationId xmlns:a16="http://schemas.microsoft.com/office/drawing/2014/main" id="{2FB9E842-64B1-2E38-8489-6EE52EE5C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68268" y="14116661"/>
              <a:ext cx="4562695" cy="2666341"/>
            </a:xfrm>
            <a:prstGeom prst="rect">
              <a:avLst/>
            </a:prstGeom>
            <a:solidFill>
              <a:srgbClr val="49A94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endParaRPr>
            </a:p>
          </p:txBody>
        </p:sp>
        <p:pic>
          <p:nvPicPr>
            <p:cNvPr id="1033" name="Picture 1032" descr="A black balloon with red blue and green paint dripping&#10;&#10;AI-generated content may be incorrect.">
              <a:extLst>
                <a:ext uri="{FF2B5EF4-FFF2-40B4-BE49-F238E27FC236}">
                  <a16:creationId xmlns:a16="http://schemas.microsoft.com/office/drawing/2014/main" id="{2AF76B6F-FB93-FE5B-3824-0317001D7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9344"/>
            <a:stretch>
              <a:fillRect/>
            </a:stretch>
          </p:blipFill>
          <p:spPr>
            <a:xfrm>
              <a:off x="24600040" y="14297687"/>
              <a:ext cx="4056910" cy="2304288"/>
            </a:xfrm>
            <a:prstGeom prst="rect">
              <a:avLst/>
            </a:prstGeom>
          </p:spPr>
        </p:pic>
      </p:grpSp>
      <p:sp>
        <p:nvSpPr>
          <p:cNvPr id="1038" name="Text Box 246">
            <a:extLst>
              <a:ext uri="{FF2B5EF4-FFF2-40B4-BE49-F238E27FC236}">
                <a16:creationId xmlns:a16="http://schemas.microsoft.com/office/drawing/2014/main" id="{B205966A-AA4E-520C-D5A5-060CAA4FC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8282" y="12344400"/>
            <a:ext cx="3886200" cy="769441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ctr" eaLnBrk="1" hangingPunct="1"/>
            <a:r>
              <a:rPr lang="en-US" altLang="en-US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Merging</a:t>
            </a:r>
          </a:p>
        </p:txBody>
      </p:sp>
      <p:pic>
        <p:nvPicPr>
          <p:cNvPr id="1041" name="Picture 1040" descr="A group of squares with red x and green squares&#10;&#10;AI-generated content may be incorrect.">
            <a:extLst>
              <a:ext uri="{FF2B5EF4-FFF2-40B4-BE49-F238E27FC236}">
                <a16:creationId xmlns:a16="http://schemas.microsoft.com/office/drawing/2014/main" id="{11D84E33-F072-0C8D-E5E8-00AE3A3CD5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23144" y="29105282"/>
            <a:ext cx="9335803" cy="2762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0467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0058D4CD-30A9-1D36-BFEA-EDD6955E088D}"/>
              </a:ext>
            </a:extLst>
          </p:cNvPr>
          <p:cNvSpPr/>
          <p:nvPr/>
        </p:nvSpPr>
        <p:spPr bwMode="auto">
          <a:xfrm>
            <a:off x="13692119" y="28910697"/>
            <a:ext cx="6729481" cy="332190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Issue: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video data contained lots of grayscale pixels.</a:t>
            </a:r>
          </a:p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Remove the gray pixels before finding average color of frame.</a:t>
            </a:r>
          </a:p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 different between two colors is large, a color is present.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49" name="Picture 1048" descr="A graph with blue and orange dots&#10;&#10;AI-generated content may be incorrect.">
            <a:extLst>
              <a:ext uri="{FF2B5EF4-FFF2-40B4-BE49-F238E27FC236}">
                <a16:creationId xmlns:a16="http://schemas.microsoft.com/office/drawing/2014/main" id="{4D127962-A6A3-AECD-F67E-FCBB08A6C8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96754" y="7922770"/>
            <a:ext cx="8997946" cy="4810071"/>
          </a:xfrm>
          <a:prstGeom prst="rect">
            <a:avLst/>
          </a:prstGeom>
        </p:spPr>
      </p:pic>
      <p:pic>
        <p:nvPicPr>
          <p:cNvPr id="1051" name="Picture 1050" descr="A table with black text&#10;&#10;AI-generated content may be incorrect.">
            <a:extLst>
              <a:ext uri="{FF2B5EF4-FFF2-40B4-BE49-F238E27FC236}">
                <a16:creationId xmlns:a16="http://schemas.microsoft.com/office/drawing/2014/main" id="{584098CF-750E-2991-1DAD-E51ECA1B0B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33890" y="11670324"/>
            <a:ext cx="3882565" cy="2567504"/>
          </a:xfrm>
          <a:prstGeom prst="rect">
            <a:avLst/>
          </a:prstGeom>
        </p:spPr>
      </p:pic>
      <p:pic>
        <p:nvPicPr>
          <p:cNvPr id="1053" name="Picture 1052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F513C12A-62A7-64F2-5F7E-D3C2B82347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072400" y="12776802"/>
            <a:ext cx="5483528" cy="15702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7030A0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13436</TotalTime>
  <Words>755</Words>
  <Application>Microsoft Office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SimSun</vt:lpstr>
      <vt:lpstr>Arial</vt:lpstr>
      <vt:lpstr>Arial Narrow</vt:lpstr>
      <vt:lpstr>Arial Rounded MT Bold</vt:lpstr>
      <vt:lpstr>inherit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Caden Pink01</cp:lastModifiedBy>
  <cp:revision>150</cp:revision>
  <cp:lastPrinted>2025-12-08T16:58:23Z</cp:lastPrinted>
  <dcterms:created xsi:type="dcterms:W3CDTF">2000-02-09T15:01:13Z</dcterms:created>
  <dcterms:modified xsi:type="dcterms:W3CDTF">2025-12-08T18:34:44Z</dcterms:modified>
  <cp:category>research posters template</cp:category>
</cp:coreProperties>
</file>